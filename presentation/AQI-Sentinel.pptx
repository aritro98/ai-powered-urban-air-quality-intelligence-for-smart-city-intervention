
<file path=[Content_Types].xml><?xml version="1.0" encoding="utf-8"?>
<Types xmlns="http://schemas.openxmlformats.org/package/2006/content-types">
  <Default Extension="D1L5NmG5cVR&amp;itok=LLR6RLAk" ContentType="image/jpeg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3"/>
      <p:italic r:id="rId14"/>
    </p:embeddedFont>
    <p:embeddedFont>
      <p:font typeface="Roboto Light" panose="02000000000000000000" pitchFamily="2" charset="0"/>
      <p:regular r:id="rId15"/>
      <p:italic r:id="rId16"/>
    </p:embeddedFont>
    <p:embeddedFont>
      <p:font typeface="Roboto Medium" panose="02000000000000000000" pitchFamily="2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590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D1L5NmG5cVR&amp;itok=LLR6RLAk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96119" y="1241450"/>
            <a:ext cx="1321594" cy="215354"/>
          </a:xfrm>
          <a:prstGeom prst="roundRect">
            <a:avLst>
              <a:gd name="adj" fmla="val 22119"/>
            </a:avLst>
          </a:prstGeom>
          <a:solidFill>
            <a:srgbClr val="0F163E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283940"/>
            <a:ext cx="160868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 AI HACKATHON 2.0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1888554" y="1241450"/>
            <a:ext cx="1493862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5A6E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973610" y="1283940"/>
            <a:ext cx="178095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ROUND 2 – BUILD SPRINT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96119" y="151350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AQI-Sentinel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496119" y="2013199"/>
            <a:ext cx="4888681" cy="733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AI-Powered Urban Air Quality Intelligence for Smart City Intervention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6119" y="2909572"/>
            <a:ext cx="3750762" cy="233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Transforming Environmental Data into Actionable Intelligence</a:t>
            </a:r>
            <a:endParaRPr lang="en-US" sz="1100" dirty="0"/>
          </a:p>
        </p:txBody>
      </p:sp>
      <p:pic>
        <p:nvPicPr>
          <p:cNvPr id="10" name="Picture 9" descr="Air Quality | NASA Earthdata">
            <a:extLst>
              <a:ext uri="{FF2B5EF4-FFF2-40B4-BE49-F238E27FC236}">
                <a16:creationId xmlns:a16="http://schemas.microsoft.com/office/drawing/2014/main" id="{F157B9D8-294C-FD10-9A04-0FB08CEB8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0" r="8299"/>
          <a:stretch>
            <a:fillRect/>
          </a:stretch>
        </p:blipFill>
        <p:spPr>
          <a:xfrm>
            <a:off x="5469855" y="3840"/>
            <a:ext cx="3674145" cy="51396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b="9759"/>
          <a:stretch>
            <a:fillRect/>
          </a:stretch>
        </p:blipFill>
        <p:spPr>
          <a:xfrm>
            <a:off x="5715000" y="0"/>
            <a:ext cx="3429000" cy="51434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88257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India's Urban Air Quality Challenge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496119" y="632131"/>
            <a:ext cx="4722763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900+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96119" y="928005"/>
            <a:ext cx="4722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Air Quality Monitoring Stations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96119" y="1138223"/>
            <a:ext cx="4722763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1.67M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96119" y="1427316"/>
            <a:ext cx="4722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Premature Deaths Annually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496119" y="1630765"/>
            <a:ext cx="4722763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96119" y="1933405"/>
            <a:ext cx="4722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of India's 50 Most Polluted Cities are Urban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496119" y="2123305"/>
            <a:ext cx="4722763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31%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96119" y="2405629"/>
            <a:ext cx="4722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of Cities Have Actionable Response Protocols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496119" y="2583035"/>
            <a:ext cx="472276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Current Workflow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813347"/>
            <a:ext cx="4722763" cy="207161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27400" y="4449215"/>
            <a:ext cx="713766" cy="127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Dashboard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779194" y="4606596"/>
            <a:ext cx="1038077" cy="95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 readings for review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4194865" y="4422126"/>
            <a:ext cx="713766" cy="127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Delayed Action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144287" y="4612178"/>
            <a:ext cx="855426" cy="97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Slow or absent response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818660" y="2979217"/>
            <a:ext cx="713766" cy="127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Sensors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747996" y="3143367"/>
            <a:ext cx="855093" cy="88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 real-time air data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3077037" y="2979221"/>
            <a:ext cx="713766" cy="25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Manual Interpretation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971078" y="3287954"/>
            <a:ext cx="925683" cy="122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analysis of trends</a:t>
            </a:r>
            <a:endParaRPr lang="en-US" sz="600" dirty="0"/>
          </a:p>
        </p:txBody>
      </p:sp>
      <p:sp>
        <p:nvSpPr>
          <p:cNvPr id="22" name="Shape 18"/>
          <p:cNvSpPr/>
          <p:nvPr/>
        </p:nvSpPr>
        <p:spPr>
          <a:xfrm>
            <a:off x="496119" y="4877359"/>
            <a:ext cx="9525" cy="164604"/>
          </a:xfrm>
          <a:prstGeom prst="roundRect">
            <a:avLst>
              <a:gd name="adj" fmla="val 60000"/>
            </a:avLst>
          </a:prstGeom>
          <a:solidFill>
            <a:srgbClr val="5A6ED8"/>
          </a:solidFill>
          <a:ln/>
        </p:spPr>
      </p:sp>
      <p:sp>
        <p:nvSpPr>
          <p:cNvPr id="23" name="Text 19"/>
          <p:cNvSpPr/>
          <p:nvPr/>
        </p:nvSpPr>
        <p:spPr>
          <a:xfrm>
            <a:off x="602382" y="4917165"/>
            <a:ext cx="507370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"The data exists. Actionable intelligence does not."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From Monitoring to Decision Intelligence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AQI-Sentinel is a Multi-Agent AI platform.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496119" y="807021"/>
            <a:ext cx="4058171" cy="509960"/>
          </a:xfrm>
          <a:prstGeom prst="roundRect">
            <a:avLst>
              <a:gd name="adj" fmla="val 5838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723" y="882625"/>
            <a:ext cx="212601" cy="212601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213" y="941115"/>
            <a:ext cx="95622" cy="956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1723" y="1130647"/>
            <a:ext cx="39069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Source Attribution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4589711" y="807021"/>
            <a:ext cx="4058171" cy="509960"/>
          </a:xfrm>
          <a:prstGeom prst="roundRect">
            <a:avLst>
              <a:gd name="adj" fmla="val 5838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5315" y="882625"/>
            <a:ext cx="212601" cy="212601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3805" y="941115"/>
            <a:ext cx="95622" cy="9562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5315" y="1130647"/>
            <a:ext cx="39069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AQI Forecasting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496119" y="1352401"/>
            <a:ext cx="4058171" cy="509960"/>
          </a:xfrm>
          <a:prstGeom prst="roundRect">
            <a:avLst>
              <a:gd name="adj" fmla="val 5838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71723" y="1428006"/>
            <a:ext cx="212601" cy="212601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213" y="1486495"/>
            <a:ext cx="95622" cy="9562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1723" y="1676028"/>
            <a:ext cx="39069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Enforcement Intelligence</a:t>
            </a:r>
            <a:endParaRPr lang="en-US" sz="650" dirty="0"/>
          </a:p>
        </p:txBody>
      </p:sp>
      <p:sp>
        <p:nvSpPr>
          <p:cNvPr id="16" name="Shape 11"/>
          <p:cNvSpPr/>
          <p:nvPr/>
        </p:nvSpPr>
        <p:spPr>
          <a:xfrm>
            <a:off x="4589711" y="1352401"/>
            <a:ext cx="4058171" cy="509960"/>
          </a:xfrm>
          <a:prstGeom prst="roundRect">
            <a:avLst>
              <a:gd name="adj" fmla="val 5838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665315" y="1428006"/>
            <a:ext cx="212601" cy="212601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3805" y="1486495"/>
            <a:ext cx="95622" cy="9562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665315" y="1676028"/>
            <a:ext cx="39069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Citizen Health Advisory</a:t>
            </a:r>
            <a:endParaRPr lang="en-US" sz="650" dirty="0"/>
          </a:p>
        </p:txBody>
      </p:sp>
      <p:sp>
        <p:nvSpPr>
          <p:cNvPr id="20" name="Shape 14"/>
          <p:cNvSpPr/>
          <p:nvPr/>
        </p:nvSpPr>
        <p:spPr>
          <a:xfrm>
            <a:off x="496119" y="1897782"/>
            <a:ext cx="4058171" cy="509960"/>
          </a:xfrm>
          <a:prstGeom prst="roundRect">
            <a:avLst>
              <a:gd name="adj" fmla="val 5838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71723" y="1973387"/>
            <a:ext cx="212601" cy="212601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0213" y="2031876"/>
            <a:ext cx="95622" cy="9562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71723" y="2221409"/>
            <a:ext cx="39069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Ground Truth Validation</a:t>
            </a:r>
            <a:endParaRPr lang="en-US" sz="650" dirty="0"/>
          </a:p>
        </p:txBody>
      </p:sp>
      <p:sp>
        <p:nvSpPr>
          <p:cNvPr id="24" name="Shape 17"/>
          <p:cNvSpPr/>
          <p:nvPr/>
        </p:nvSpPr>
        <p:spPr>
          <a:xfrm>
            <a:off x="4589711" y="1897782"/>
            <a:ext cx="4058171" cy="509960"/>
          </a:xfrm>
          <a:prstGeom prst="roundRect">
            <a:avLst>
              <a:gd name="adj" fmla="val 5838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665315" y="1973387"/>
            <a:ext cx="212601" cy="212601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23805" y="2031876"/>
            <a:ext cx="95622" cy="9562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665315" y="2221409"/>
            <a:ext cx="39069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Response Time Benchmarking</a:t>
            </a:r>
            <a:endParaRPr lang="en-US" sz="6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2407" y="2447554"/>
            <a:ext cx="6339185" cy="255619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249023" y="4186231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Smart City Decisions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4740966" y="4186544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Explainable Intelligence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3248398" y="4300865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AI Agents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1740341" y="4186233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Multi-Source Data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2689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System Architecture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107132"/>
            <a:ext cx="4013597" cy="502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460" y="1254323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Frontend Dashboard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4285" y="1107132"/>
            <a:ext cx="4013597" cy="5020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38626" y="1254323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FastAPI Backend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33773"/>
            <a:ext cx="4013597" cy="5020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0460" y="1880964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Request Orchestrator</a:t>
            </a:r>
            <a:endParaRPr lang="en-US" sz="1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4285" y="1733773"/>
            <a:ext cx="4013597" cy="50207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838626" y="1880964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Specialized AI Agents</a:t>
            </a:r>
            <a:endParaRPr lang="en-US" sz="1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360414"/>
            <a:ext cx="4013597" cy="50207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00460" y="2507605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Shared Models</a:t>
            </a:r>
            <a:endParaRPr lang="en-US" sz="13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4285" y="2360414"/>
            <a:ext cx="4013597" cy="50207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838626" y="2507605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Real Public APIs</a:t>
            </a:r>
            <a:endParaRPr lang="en-US" sz="1300" dirty="0"/>
          </a:p>
        </p:txBody>
      </p:sp>
      <p:sp>
        <p:nvSpPr>
          <p:cNvPr id="15" name="Shape 7"/>
          <p:cNvSpPr/>
          <p:nvPr/>
        </p:nvSpPr>
        <p:spPr>
          <a:xfrm>
            <a:off x="496119" y="3002607"/>
            <a:ext cx="4013597" cy="483022"/>
          </a:xfrm>
          <a:prstGeom prst="roundRect">
            <a:avLst>
              <a:gd name="adj" fmla="val 11557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16" name="Text 8"/>
          <p:cNvSpPr/>
          <p:nvPr/>
        </p:nvSpPr>
        <p:spPr>
          <a:xfrm>
            <a:off x="633785" y="3140273"/>
            <a:ext cx="37382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Modular Design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4634285" y="3002607"/>
            <a:ext cx="4013597" cy="483022"/>
          </a:xfrm>
          <a:prstGeom prst="roundRect">
            <a:avLst>
              <a:gd name="adj" fmla="val 11557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4771951" y="3140273"/>
            <a:ext cx="37382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Concurrent Processing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496119" y="3610198"/>
            <a:ext cx="4013597" cy="483022"/>
          </a:xfrm>
          <a:prstGeom prst="roundRect">
            <a:avLst>
              <a:gd name="adj" fmla="val 11557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633785" y="3747864"/>
            <a:ext cx="37382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Real-Time APIs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4634285" y="3610198"/>
            <a:ext cx="4013597" cy="483022"/>
          </a:xfrm>
          <a:prstGeom prst="roundRect">
            <a:avLst>
              <a:gd name="adj" fmla="val 11557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4771951" y="3747864"/>
            <a:ext cx="37382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496119" y="4217789"/>
            <a:ext cx="4013597" cy="483022"/>
          </a:xfrm>
          <a:prstGeom prst="roundRect">
            <a:avLst>
              <a:gd name="adj" fmla="val 11557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633785" y="4355455"/>
            <a:ext cx="37382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Fault Tolerance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4634285" y="4217789"/>
            <a:ext cx="4013597" cy="483022"/>
          </a:xfrm>
          <a:prstGeom prst="roundRect">
            <a:avLst>
              <a:gd name="adj" fmla="val 11557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4771951" y="4355455"/>
            <a:ext cx="37382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Scalable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0697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Multi-Agent Intelligence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458632"/>
            <a:ext cx="8151762" cy="35985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8" y="4102457"/>
            <a:ext cx="4058171" cy="271463"/>
          </a:xfrm>
          <a:prstGeom prst="roundRect">
            <a:avLst>
              <a:gd name="adj" fmla="val 10967"/>
            </a:avLst>
          </a:prstGeom>
          <a:solidFill>
            <a:srgbClr val="000018">
              <a:alpha val="95000"/>
            </a:srgbClr>
          </a:solidFill>
          <a:ln w="9525">
            <a:solidFill>
              <a:srgbClr val="313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6484" y="4182824"/>
            <a:ext cx="38974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Source Attribution Agent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4589711" y="4102457"/>
            <a:ext cx="4058171" cy="271463"/>
          </a:xfrm>
          <a:prstGeom prst="roundRect">
            <a:avLst>
              <a:gd name="adj" fmla="val 10967"/>
            </a:avLst>
          </a:prstGeom>
          <a:solidFill>
            <a:srgbClr val="000018">
              <a:alpha val="95000"/>
            </a:srgbClr>
          </a:solidFill>
          <a:ln w="9525">
            <a:solidFill>
              <a:srgbClr val="313E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670077" y="4182824"/>
            <a:ext cx="38974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Forecast Agent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496116" y="4429569"/>
            <a:ext cx="4058171" cy="271463"/>
          </a:xfrm>
          <a:prstGeom prst="roundRect">
            <a:avLst>
              <a:gd name="adj" fmla="val 10967"/>
            </a:avLst>
          </a:prstGeom>
          <a:solidFill>
            <a:srgbClr val="000018">
              <a:alpha val="95000"/>
            </a:srgbClr>
          </a:solidFill>
          <a:ln w="9525">
            <a:solidFill>
              <a:srgbClr val="313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482" y="4534654"/>
            <a:ext cx="38974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Enforcement Agent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4589711" y="4429569"/>
            <a:ext cx="4058171" cy="271463"/>
          </a:xfrm>
          <a:prstGeom prst="roundRect">
            <a:avLst>
              <a:gd name="adj" fmla="val 10967"/>
            </a:avLst>
          </a:prstGeom>
          <a:solidFill>
            <a:srgbClr val="000018">
              <a:alpha val="95000"/>
            </a:srgbClr>
          </a:solidFill>
          <a:ln w="9525">
            <a:solidFill>
              <a:srgbClr val="313E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70076" y="4545215"/>
            <a:ext cx="38974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Citizen Advisory Agent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491356" y="4767280"/>
            <a:ext cx="4058171" cy="271463"/>
          </a:xfrm>
          <a:prstGeom prst="roundRect">
            <a:avLst>
              <a:gd name="adj" fmla="val 10967"/>
            </a:avLst>
          </a:prstGeom>
          <a:solidFill>
            <a:srgbClr val="000018">
              <a:alpha val="95000"/>
            </a:srgbClr>
          </a:solidFill>
          <a:ln w="9525">
            <a:solidFill>
              <a:srgbClr val="313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722" y="4861767"/>
            <a:ext cx="38974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Ground Truth Validation Agent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4589708" y="4767280"/>
            <a:ext cx="4058171" cy="271463"/>
          </a:xfrm>
          <a:prstGeom prst="roundRect">
            <a:avLst>
              <a:gd name="adj" fmla="val 10967"/>
            </a:avLst>
          </a:prstGeom>
          <a:solidFill>
            <a:srgbClr val="000018">
              <a:alpha val="95000"/>
            </a:srgbClr>
          </a:solidFill>
          <a:ln w="9525">
            <a:solidFill>
              <a:srgbClr val="313E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70074" y="4861767"/>
            <a:ext cx="38974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Response Time Evaluation Agent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4109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Live Platform Demo</a:t>
            </a:r>
            <a:endParaRPr lang="en-US" sz="25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971874"/>
            <a:ext cx="2639616" cy="486147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695995" y="3114601"/>
            <a:ext cx="22970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Dashboard Overview</a:t>
            </a:r>
            <a:endParaRPr lang="en-US" sz="125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2118" y="2971874"/>
            <a:ext cx="2639690" cy="486147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3451994" y="3114601"/>
            <a:ext cx="22970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Source Attribution</a:t>
            </a:r>
            <a:endParaRPr lang="en-US" sz="125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8191" y="2971874"/>
            <a:ext cx="2639690" cy="486147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6208068" y="3114601"/>
            <a:ext cx="22970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Forecast Dashboard</a:t>
            </a:r>
            <a:endParaRPr lang="en-US" sz="1250" dirty="0"/>
          </a:p>
        </p:txBody>
      </p:sp>
      <p:pic>
        <p:nvPicPr>
          <p:cNvPr id="1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574405"/>
            <a:ext cx="2639616" cy="486147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695995" y="3717131"/>
            <a:ext cx="22970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Enforcement Dashboard</a:t>
            </a:r>
            <a:endParaRPr lang="en-US" sz="125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2118" y="3574405"/>
            <a:ext cx="2639690" cy="486147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3451994" y="3717131"/>
            <a:ext cx="22970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Citizen Advisory</a:t>
            </a:r>
            <a:endParaRPr lang="en-US" sz="1250" dirty="0"/>
          </a:p>
        </p:txBody>
      </p:sp>
      <p:sp>
        <p:nvSpPr>
          <p:cNvPr id="18" name="Shape 6"/>
          <p:cNvSpPr/>
          <p:nvPr/>
        </p:nvSpPr>
        <p:spPr>
          <a:xfrm>
            <a:off x="496119" y="4191521"/>
            <a:ext cx="14288" cy="457795"/>
          </a:xfrm>
          <a:prstGeom prst="roundRect">
            <a:avLst>
              <a:gd name="adj" fmla="val 59998"/>
            </a:avLst>
          </a:prstGeom>
          <a:solidFill>
            <a:srgbClr val="5A6ED8"/>
          </a:solidFill>
          <a:ln/>
        </p:spPr>
      </p:sp>
      <p:sp>
        <p:nvSpPr>
          <p:cNvPr id="19" name="Text 7"/>
          <p:cNvSpPr/>
          <p:nvPr/>
        </p:nvSpPr>
        <p:spPr>
          <a:xfrm>
            <a:off x="688777" y="4322490"/>
            <a:ext cx="841630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"One Unified AI Platform for Municipal Decision-Making"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5E7FA77-9492-423D-80BE-A52AE3035A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074" t="2887" r="35566" b="40407"/>
          <a:stretch>
            <a:fillRect/>
          </a:stretch>
        </p:blipFill>
        <p:spPr>
          <a:xfrm>
            <a:off x="510407" y="1206624"/>
            <a:ext cx="1546250" cy="155116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342B064-F706-07EC-AD48-7685C2466B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371" t="9661" r="43555" b="52537"/>
          <a:stretch>
            <a:fillRect/>
          </a:stretch>
        </p:blipFill>
        <p:spPr>
          <a:xfrm>
            <a:off x="7101632" y="1203805"/>
            <a:ext cx="1546250" cy="155398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DA86B28-81A7-9D77-92C2-F1E1384164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156" t="9307" r="31424" b="8268"/>
          <a:stretch>
            <a:fillRect/>
          </a:stretch>
        </p:blipFill>
        <p:spPr>
          <a:xfrm>
            <a:off x="3759737" y="1206623"/>
            <a:ext cx="1625063" cy="154343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1ACF124-D3C2-12BC-CEF5-020B3EB882D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313" t="10411" r="38313" b="11544"/>
          <a:stretch>
            <a:fillRect/>
          </a:stretch>
        </p:blipFill>
        <p:spPr>
          <a:xfrm>
            <a:off x="2091706" y="1206623"/>
            <a:ext cx="1604977" cy="155116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A8808F7-55F5-C819-D51C-6BE86EA2D7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433" t="24181" r="1350" b="12280"/>
          <a:stretch>
            <a:fillRect/>
          </a:stretch>
        </p:blipFill>
        <p:spPr>
          <a:xfrm>
            <a:off x="5447319" y="1206623"/>
            <a:ext cx="1591259" cy="15511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216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Technical Excellence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069553"/>
            <a:ext cx="86089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Highlight the engineering behind AQI-Sentinel.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405905"/>
            <a:ext cx="4015606" cy="1476970"/>
          </a:xfrm>
          <a:prstGeom prst="roundRect">
            <a:avLst>
              <a:gd name="adj" fmla="val 3716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1552" y="1541338"/>
            <a:ext cx="374473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Backend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1552" y="1817712"/>
            <a:ext cx="3744739" cy="6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APIs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2201" y="1405905"/>
            <a:ext cx="4015680" cy="1476970"/>
          </a:xfrm>
          <a:prstGeom prst="roundRect">
            <a:avLst>
              <a:gd name="adj" fmla="val 3716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67635" y="1541338"/>
            <a:ext cx="374481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67635" y="1817712"/>
            <a:ext cx="3744813" cy="929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Multi-Agent Architecture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Holt-Winters Forecasting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 Integration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Explainable 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6119" y="3003352"/>
            <a:ext cx="4015606" cy="1719932"/>
          </a:xfrm>
          <a:prstGeom prst="roundRect">
            <a:avLst>
              <a:gd name="adj" fmla="val 3191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552" y="3138785"/>
            <a:ext cx="374473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 Sources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1552" y="3415159"/>
            <a:ext cx="3744739" cy="1172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OpenAQ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Open-Meteo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NASA FIRMS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TomTom Traffic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OpenStreetMap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32201" y="3003352"/>
            <a:ext cx="4015680" cy="1719932"/>
          </a:xfrm>
          <a:prstGeom prst="roundRect">
            <a:avLst>
              <a:gd name="adj" fmla="val 3191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4767635" y="3138785"/>
            <a:ext cx="374481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System Features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67635" y="3415159"/>
            <a:ext cx="3744813" cy="1172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Concurrent Execution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APIs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Fallback Modes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 Scoring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Tracing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716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Validation &amp; Results</a:t>
            </a:r>
            <a:endParaRPr lang="en-US" sz="180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660577"/>
            <a:ext cx="2676525" cy="350416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636761" y="3763119"/>
            <a:ext cx="243334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Ground Truth Validation</a:t>
            </a:r>
            <a:endParaRPr lang="en-US" sz="90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3663" y="3660577"/>
            <a:ext cx="2676599" cy="350416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3374306" y="3763119"/>
            <a:ext cx="243341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Forecast Accuracy</a:t>
            </a:r>
            <a:endParaRPr lang="en-US" sz="9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1282" y="3660577"/>
            <a:ext cx="2676525" cy="350416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6111925" y="3763119"/>
            <a:ext cx="243334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Transparent Evaluation</a:t>
            </a:r>
            <a:endParaRPr lang="en-US" sz="90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072012"/>
            <a:ext cx="2676525" cy="350416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636761" y="4174554"/>
            <a:ext cx="243334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Measured Response Time</a:t>
            </a:r>
            <a:endParaRPr lang="en-US" sz="90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3663" y="4072012"/>
            <a:ext cx="2676599" cy="350416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3374306" y="4174554"/>
            <a:ext cx="243341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Confidence Scores</a:t>
            </a:r>
            <a:endParaRPr lang="en-US" sz="900" dirty="0"/>
          </a:p>
        </p:txBody>
      </p:sp>
      <p:sp>
        <p:nvSpPr>
          <p:cNvPr id="16" name="Shape 6"/>
          <p:cNvSpPr/>
          <p:nvPr/>
        </p:nvSpPr>
        <p:spPr>
          <a:xfrm>
            <a:off x="496119" y="4491112"/>
            <a:ext cx="9525" cy="260598"/>
          </a:xfrm>
          <a:prstGeom prst="roundRect">
            <a:avLst>
              <a:gd name="adj" fmla="val 60000"/>
            </a:avLst>
          </a:prstGeom>
          <a:solidFill>
            <a:srgbClr val="5A6ED8"/>
          </a:solidFill>
          <a:ln/>
        </p:spPr>
      </p:sp>
      <p:sp>
        <p:nvSpPr>
          <p:cNvPr id="17" name="Text 7"/>
          <p:cNvSpPr/>
          <p:nvPr/>
        </p:nvSpPr>
        <p:spPr>
          <a:xfrm>
            <a:off x="635645" y="4559796"/>
            <a:ext cx="846943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"Designed with measurable performance rather than black-box predictions."</a:t>
            </a:r>
            <a:endParaRPr lang="en-US" sz="7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269B517-C612-641A-71DD-098C97E68CB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025" t="35633" r="44000" b="7184"/>
          <a:stretch>
            <a:fillRect/>
          </a:stretch>
        </p:blipFill>
        <p:spPr>
          <a:xfrm>
            <a:off x="3233663" y="839278"/>
            <a:ext cx="2657878" cy="269114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35516CC-ECB7-BCE3-395A-48B6FA0C29D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430" t="10481" r="26963" b="21358"/>
          <a:stretch>
            <a:fillRect/>
          </a:stretch>
        </p:blipFill>
        <p:spPr>
          <a:xfrm>
            <a:off x="496120" y="839278"/>
            <a:ext cx="2650436" cy="269114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7302B4E-747C-7A58-29A1-54CF894B28B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579" t="12610" r="41630" b="47786"/>
          <a:stretch>
            <a:fillRect/>
          </a:stretch>
        </p:blipFill>
        <p:spPr>
          <a:xfrm>
            <a:off x="5978648" y="839277"/>
            <a:ext cx="2669159" cy="26911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2392"/>
            <a:ext cx="472276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Real-World Impact</a:t>
            </a:r>
            <a:endParaRPr lang="en-US" sz="1650" dirty="0"/>
          </a:p>
        </p:txBody>
      </p:sp>
      <p:sp>
        <p:nvSpPr>
          <p:cNvPr id="4" name="Shape 1"/>
          <p:cNvSpPr/>
          <p:nvPr/>
        </p:nvSpPr>
        <p:spPr>
          <a:xfrm>
            <a:off x="496119" y="780380"/>
            <a:ext cx="4722763" cy="873770"/>
          </a:xfrm>
          <a:prstGeom prst="roundRect">
            <a:avLst>
              <a:gd name="adj" fmla="val 4046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5043" y="869305"/>
            <a:ext cx="252487" cy="252487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472" y="938659"/>
            <a:ext cx="113630" cy="1136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5043" y="1171724"/>
            <a:ext cx="4544913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Environmental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85043" y="1333128"/>
            <a:ext cx="4544913" cy="232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emissions</a:t>
            </a:r>
            <a:endParaRPr lang="en-US" sz="65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interventions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496119" y="1704082"/>
            <a:ext cx="4722763" cy="873770"/>
          </a:xfrm>
          <a:prstGeom prst="roundRect">
            <a:avLst>
              <a:gd name="adj" fmla="val 4046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85043" y="1793007"/>
            <a:ext cx="252487" cy="252487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472" y="1862361"/>
            <a:ext cx="113630" cy="1136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85043" y="2095426"/>
            <a:ext cx="4544913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Public Health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585043" y="2256830"/>
            <a:ext cx="4544913" cy="232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Hyperlocal advisories</a:t>
            </a:r>
            <a:endParaRPr lang="en-US" sz="65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exposure</a:t>
            </a:r>
            <a:endParaRPr lang="en-US" sz="650" dirty="0"/>
          </a:p>
        </p:txBody>
      </p:sp>
      <p:sp>
        <p:nvSpPr>
          <p:cNvPr id="14" name="Shape 9"/>
          <p:cNvSpPr/>
          <p:nvPr/>
        </p:nvSpPr>
        <p:spPr>
          <a:xfrm>
            <a:off x="496119" y="2627784"/>
            <a:ext cx="4722763" cy="873770"/>
          </a:xfrm>
          <a:prstGeom prst="roundRect">
            <a:avLst>
              <a:gd name="adj" fmla="val 4046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85043" y="2716709"/>
            <a:ext cx="252487" cy="252487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472" y="2786063"/>
            <a:ext cx="113630" cy="1136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85043" y="3019127"/>
            <a:ext cx="4544913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585043" y="3180531"/>
            <a:ext cx="4544913" cy="232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Faster inspections</a:t>
            </a:r>
            <a:endParaRPr lang="en-US" sz="65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Data-driven enforcement</a:t>
            </a:r>
            <a:endParaRPr lang="en-US" sz="650" dirty="0"/>
          </a:p>
        </p:txBody>
      </p:sp>
      <p:sp>
        <p:nvSpPr>
          <p:cNvPr id="19" name="Shape 13"/>
          <p:cNvSpPr/>
          <p:nvPr/>
        </p:nvSpPr>
        <p:spPr>
          <a:xfrm>
            <a:off x="496119" y="3551486"/>
            <a:ext cx="4722763" cy="873770"/>
          </a:xfrm>
          <a:prstGeom prst="roundRect">
            <a:avLst>
              <a:gd name="adj" fmla="val 4046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85043" y="3640410"/>
            <a:ext cx="252487" cy="252487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472" y="3709764"/>
            <a:ext cx="113630" cy="11363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85043" y="3942829"/>
            <a:ext cx="4544913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585043" y="4104233"/>
            <a:ext cx="4544913" cy="232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Deployable across Indian cities</a:t>
            </a:r>
            <a:endParaRPr lang="en-US" sz="65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Easily extensible</a:t>
            </a:r>
            <a:endParaRPr lang="en-US" sz="650" dirty="0"/>
          </a:p>
        </p:txBody>
      </p:sp>
      <p:sp>
        <p:nvSpPr>
          <p:cNvPr id="24" name="Shape 17"/>
          <p:cNvSpPr/>
          <p:nvPr/>
        </p:nvSpPr>
        <p:spPr>
          <a:xfrm>
            <a:off x="496119" y="4481438"/>
            <a:ext cx="9525" cy="219670"/>
          </a:xfrm>
          <a:prstGeom prst="roundRect">
            <a:avLst>
              <a:gd name="adj" fmla="val 60000"/>
            </a:avLst>
          </a:prstGeom>
          <a:solidFill>
            <a:srgbClr val="5A6ED8"/>
          </a:solidFill>
          <a:ln/>
        </p:spPr>
      </p:sp>
      <p:sp>
        <p:nvSpPr>
          <p:cNvPr id="25" name="Text 18"/>
          <p:cNvSpPr/>
          <p:nvPr/>
        </p:nvSpPr>
        <p:spPr>
          <a:xfrm>
            <a:off x="622325" y="4537621"/>
            <a:ext cx="5053757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"From reactive monitoring to proactive intervention."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48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Beyond Monitoring. Towards Smarter Cities.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934492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Future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96119" y="150145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1723355"/>
            <a:ext cx="2622724" cy="1905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832297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IoT Sensor Expansion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60601" y="150145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723355"/>
            <a:ext cx="2622724" cy="1905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1832297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Drone-Based Monitoring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25083" y="150145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1723355"/>
            <a:ext cx="2622724" cy="1905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2" name="Text 10"/>
          <p:cNvSpPr/>
          <p:nvPr/>
        </p:nvSpPr>
        <p:spPr>
          <a:xfrm>
            <a:off x="6025083" y="1832297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Digital Twin Integration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119" y="230177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6119" y="2523679"/>
            <a:ext cx="4004965" cy="1905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5" name="Text 13"/>
          <p:cNvSpPr/>
          <p:nvPr/>
        </p:nvSpPr>
        <p:spPr>
          <a:xfrm>
            <a:off x="496119" y="2632621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Reinforcement Learning for Policy Optimization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42842" y="230177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2842" y="2523679"/>
            <a:ext cx="4004965" cy="1905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8" name="Text 16"/>
          <p:cNvSpPr/>
          <p:nvPr/>
        </p:nvSpPr>
        <p:spPr>
          <a:xfrm>
            <a:off x="4642842" y="2632621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Smart City Command Center Integration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96119" y="3119810"/>
            <a:ext cx="19050" cy="772567"/>
          </a:xfrm>
          <a:prstGeom prst="roundRect">
            <a:avLst>
              <a:gd name="adj" fmla="val 60000"/>
            </a:avLst>
          </a:prstGeom>
          <a:solidFill>
            <a:srgbClr val="5A6ED8"/>
          </a:solidFill>
          <a:ln/>
        </p:spPr>
      </p:sp>
      <p:sp>
        <p:nvSpPr>
          <p:cNvPr id="20" name="Text 18"/>
          <p:cNvSpPr/>
          <p:nvPr/>
        </p:nvSpPr>
        <p:spPr>
          <a:xfrm>
            <a:off x="708720" y="3279279"/>
            <a:ext cx="7939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AQI-Sentinel transforms fragmented environmental signals into explainable, evidence-backed intelligence, enabling cities to predict, prioritise, and prevent urban air pollution.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6119" y="4087267"/>
            <a:ext cx="8151763" cy="19050"/>
          </a:xfrm>
          <a:prstGeom prst="roundRect">
            <a:avLst>
              <a:gd name="adj" fmla="val 60000"/>
            </a:avLst>
          </a:prstGeom>
          <a:solidFill>
            <a:srgbClr val="CFD0D8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6119" y="4354339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</TotalTime>
  <Words>366</Words>
  <Application>Microsoft Office PowerPoint</Application>
  <PresentationFormat>On-screen Show (16:9)</PresentationFormat>
  <Paragraphs>131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Roboto Light</vt:lpstr>
      <vt:lpstr>Roboto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Aritro Dutta</dc:creator>
  <cp:lastModifiedBy>Aritro Dutta</cp:lastModifiedBy>
  <cp:revision>4</cp:revision>
  <dcterms:created xsi:type="dcterms:W3CDTF">2026-07-21T22:26:15Z</dcterms:created>
  <dcterms:modified xsi:type="dcterms:W3CDTF">2026-07-27T21:53:24Z</dcterms:modified>
</cp:coreProperties>
</file>